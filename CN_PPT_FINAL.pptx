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5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390000"/>
            <a:ext cx="8096250" cy="8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5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COLLEGE CAMPUS NETWORK DESIGN AND SECURITY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 seconds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300000"/>
            <a:ext cx="8096250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0" i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VLAN-Based Segmentation, Network Services and Access Control Using Cisco Packet Tracer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2930000"/>
            <a:ext cx="8096250" cy="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5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5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50" b="1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Simulation tool: </a:t>
            </a:r>
            <a:r>
              <a:rPr lang="en-US" sz="135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Cisco Packet Tracer 9.0.1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Raghav Singh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– </a:t>
            </a:r>
            <a:r>
              <a:rPr lang="en-US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1262241452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  </a:t>
            </a:r>
            <a:r>
              <a:rPr lang="en-US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Mitali Agrawal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– </a:t>
            </a:r>
            <a:r>
              <a:rPr lang="en-US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1262241467</a:t>
            </a:r>
            <a:endParaRPr sz="15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Hrushikesh Kapre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1262241493   </a:t>
            </a:r>
            <a:r>
              <a:rPr lang="en-US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Aa</a:t>
            </a:r>
            <a:r>
              <a:rPr lang="en-US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rushi Tyagi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– </a:t>
            </a:r>
            <a:r>
              <a:rPr lang="en-US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1262241597</a:t>
            </a:r>
            <a:endParaRPr sz="15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476250" y="5005500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Panel</a:t>
            </a: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-A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Batch</a:t>
            </a: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A-2</a:t>
            </a:r>
            <a:endParaRPr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Faculty:</a:t>
            </a: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Mr. Susheel Kumar 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Academic Year: 2026–2027   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Presentation date: </a:t>
            </a:r>
            <a:r>
              <a:rPr lang="en-US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22/10/2026</a:t>
            </a:r>
            <a:endParaRPr lang="en-US"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1" name="Motif link 1"/>
          <p:cNvCxnSpPr/>
          <p:nvPr/>
        </p:nvCxnSpPr>
        <p:spPr>
          <a:xfrm flipH="1">
            <a:off x="800000" y="560000"/>
            <a:ext cx="300000" cy="440000"/>
          </a:xfrm>
          <a:prstGeom prst="line">
            <a:avLst/>
          </a:prstGeom>
          <a:ln w="15875">
            <a:solidFill>
              <a:srgbClr val="20375C"/>
            </a:solidFill>
          </a:ln>
        </p:spPr>
      </p:cxnSp>
      <p:cxnSp>
        <p:nvCxnSpPr>
          <p:cNvPr id="202" name="Motif link 2"/>
          <p:cNvCxnSpPr/>
          <p:nvPr/>
        </p:nvCxnSpPr>
        <p:spPr>
          <a:xfrm>
            <a:off x="1100000" y="560000"/>
            <a:ext cx="600000" cy="440000"/>
          </a:xfrm>
          <a:prstGeom prst="line">
            <a:avLst/>
          </a:prstGeom>
          <a:ln w="15875">
            <a:solidFill>
              <a:srgbClr val="20375C"/>
            </a:solidFill>
          </a:ln>
        </p:spPr>
      </p:cxnSp>
      <p:cxnSp>
        <p:nvCxnSpPr>
          <p:cNvPr id="203" name="Motif link 3"/>
          <p:cNvCxnSpPr/>
          <p:nvPr/>
        </p:nvCxnSpPr>
        <p:spPr>
          <a:xfrm flipH="1">
            <a:off x="650000" y="1000000"/>
            <a:ext cx="150000" cy="250000"/>
          </a:xfrm>
          <a:prstGeom prst="line">
            <a:avLst/>
          </a:prstGeom>
          <a:ln w="12700">
            <a:solidFill>
              <a:srgbClr val="1F5FA8"/>
            </a:solidFill>
          </a:ln>
        </p:spPr>
      </p:cxnSp>
      <p:cxnSp>
        <p:nvCxnSpPr>
          <p:cNvPr id="204" name="Motif link 4"/>
          <p:cNvCxnSpPr/>
          <p:nvPr/>
        </p:nvCxnSpPr>
        <p:spPr>
          <a:xfrm>
            <a:off x="800000" y="1000000"/>
            <a:ext cx="200000" cy="250000"/>
          </a:xfrm>
          <a:prstGeom prst="line">
            <a:avLst/>
          </a:prstGeom>
          <a:ln w="12700">
            <a:solidFill>
              <a:srgbClr val="1F5FA8"/>
            </a:solidFill>
          </a:ln>
        </p:spPr>
      </p:cxnSp>
      <p:cxnSp>
        <p:nvCxnSpPr>
          <p:cNvPr id="205" name="Motif link 5"/>
          <p:cNvCxnSpPr/>
          <p:nvPr/>
        </p:nvCxnSpPr>
        <p:spPr>
          <a:xfrm>
            <a:off x="1700000" y="1000000"/>
            <a:ext cx="0" cy="250000"/>
          </a:xfrm>
          <a:prstGeom prst="line">
            <a:avLst/>
          </a:prstGeom>
          <a:ln w="12700">
            <a:solidFill>
              <a:srgbClr val="B8590F"/>
            </a:solidFill>
          </a:ln>
        </p:spPr>
      </p:cxnSp>
      <p:sp>
        <p:nvSpPr>
          <p:cNvPr id="206" name="Motif R1"/>
          <p:cNvSpPr/>
          <p:nvPr/>
        </p:nvSpPr>
        <p:spPr>
          <a:xfrm>
            <a:off x="970000" y="430000"/>
            <a:ext cx="260000" cy="260000"/>
          </a:xfrm>
          <a:prstGeom prst="ellipse">
            <a:avLst/>
          </a:prstGeom>
          <a:solidFill>
            <a:srgbClr val="20375C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07" name="Motif SW0"/>
          <p:cNvSpPr/>
          <p:nvPr/>
        </p:nvSpPr>
        <p:spPr>
          <a:xfrm>
            <a:off x="700000" y="900000"/>
            <a:ext cx="200000" cy="200000"/>
          </a:xfrm>
          <a:prstGeom prst="ellipse">
            <a:avLst/>
          </a:prstGeom>
          <a:solidFill>
            <a:srgbClr val="20375C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08" name="Motif SW1"/>
          <p:cNvSpPr/>
          <p:nvPr/>
        </p:nvSpPr>
        <p:spPr>
          <a:xfrm>
            <a:off x="1600000" y="900000"/>
            <a:ext cx="200000" cy="200000"/>
          </a:xfrm>
          <a:prstGeom prst="ellipse">
            <a:avLst/>
          </a:prstGeom>
          <a:solidFill>
            <a:srgbClr val="20375C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09" name="Motif PC0"/>
          <p:cNvSpPr/>
          <p:nvPr/>
        </p:nvSpPr>
        <p:spPr>
          <a:xfrm>
            <a:off x="575000" y="1185000"/>
            <a:ext cx="150000" cy="150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10" name="Motif PC1"/>
          <p:cNvSpPr/>
          <p:nvPr/>
        </p:nvSpPr>
        <p:spPr>
          <a:xfrm>
            <a:off x="925000" y="1185000"/>
            <a:ext cx="150000" cy="150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11" name="Motif Srv"/>
          <p:cNvSpPr/>
          <p:nvPr/>
        </p:nvSpPr>
        <p:spPr>
          <a:xfrm>
            <a:off x="1625000" y="1185000"/>
            <a:ext cx="150000" cy="150000"/>
          </a:xfrm>
          <a:prstGeom prst="ellipse">
            <a:avLst/>
          </a:prstGeom>
          <a:solidFill>
            <a:srgbClr val="B8590F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12" name="Motif PC2"/>
          <p:cNvSpPr/>
          <p:nvPr/>
        </p:nvSpPr>
        <p:spPr>
          <a:xfrm>
            <a:off x="1175000" y="1185000"/>
            <a:ext cx="150000" cy="150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cxnSp>
        <p:nvCxnSpPr>
          <p:cNvPr id="213" name="Motif link 6"/>
          <p:cNvCxnSpPr/>
          <p:nvPr/>
        </p:nvCxnSpPr>
        <p:spPr>
          <a:xfrm>
            <a:off x="800000" y="1000000"/>
            <a:ext cx="450000" cy="250000"/>
          </a:xfrm>
          <a:prstGeom prst="line">
            <a:avLst/>
          </a:prstGeom>
          <a:ln w="12700">
            <a:solidFill>
              <a:srgbClr val="2E7D4F"/>
            </a:solidFill>
          </a:ln>
        </p:spPr>
      </p:cxnSp>
      <p:sp>
        <p:nvSpPr>
          <p:cNvPr id="214" name="Key chip 1"/>
          <p:cNvSpPr/>
          <p:nvPr/>
        </p:nvSpPr>
        <p:spPr>
          <a:xfrm>
            <a:off x="6900000" y="500000"/>
            <a:ext cx="190000" cy="190000"/>
          </a:xfrm>
          <a:prstGeom prst="roundRect">
            <a:avLst>
              <a:gd name="adj" fmla="val 25000"/>
            </a:avLst>
          </a:prstGeom>
          <a:solidFill>
            <a:srgbClr val="1F5FA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15" name="Key label 1"/>
          <p:cNvSpPr txBox="1"/>
          <p:nvPr/>
        </p:nvSpPr>
        <p:spPr>
          <a:xfrm>
            <a:off x="7160000" y="480000"/>
            <a:ext cx="15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VLAN 10  Students</a:t>
            </a:r>
          </a:p>
        </p:txBody>
      </p:sp>
      <p:sp>
        <p:nvSpPr>
          <p:cNvPr id="216" name="Key chip 2"/>
          <p:cNvSpPr/>
          <p:nvPr/>
        </p:nvSpPr>
        <p:spPr>
          <a:xfrm>
            <a:off x="6900000" y="770000"/>
            <a:ext cx="190000" cy="190000"/>
          </a:xfrm>
          <a:prstGeom prst="roundRect">
            <a:avLst>
              <a:gd name="adj" fmla="val 25000"/>
            </a:avLst>
          </a:prstGeom>
          <a:solidFill>
            <a:srgbClr val="2E7D4F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17" name="Key label 2"/>
          <p:cNvSpPr txBox="1"/>
          <p:nvPr/>
        </p:nvSpPr>
        <p:spPr>
          <a:xfrm>
            <a:off x="7160000" y="750000"/>
            <a:ext cx="15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VLAN 20  Faculty</a:t>
            </a:r>
          </a:p>
        </p:txBody>
      </p:sp>
      <p:sp>
        <p:nvSpPr>
          <p:cNvPr id="218" name="Key chip 3"/>
          <p:cNvSpPr/>
          <p:nvPr/>
        </p:nvSpPr>
        <p:spPr>
          <a:xfrm>
            <a:off x="6900000" y="1040000"/>
            <a:ext cx="190000" cy="190000"/>
          </a:xfrm>
          <a:prstGeom prst="roundRect">
            <a:avLst>
              <a:gd name="adj" fmla="val 25000"/>
            </a:avLst>
          </a:prstGeom>
          <a:solidFill>
            <a:srgbClr val="B8590F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19" name="Key label 3"/>
          <p:cNvSpPr txBox="1"/>
          <p:nvPr/>
        </p:nvSpPr>
        <p:spPr>
          <a:xfrm>
            <a:off x="7160000" y="1020000"/>
            <a:ext cx="15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VLAN 40  Servers</a:t>
            </a: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1180000"/>
            <a:ext cx="5100000" cy="34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8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560000"/>
            <a:ext cx="5100000" cy="17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college needs </a:t>
            </a: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separate, manageable networks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for students, faculty and shared servers, yet must still allow the traffic each group needs (addressing, name lookup, web access).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Without segmentation and access control, all devices share one broadcast domain and students could reach server resources freely.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523875" y="3380000"/>
            <a:ext cx="8096250" cy="34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8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6E9D2-D950-4002-905E-A6DD5AE7B3CB}"/>
              </a:ext>
            </a:extLst>
          </p:cNvPr>
          <p:cNvSpPr>
            <a:spLocks noGrp="1"/>
          </p:cNvSpPr>
          <p:nvPr/>
        </p:nvSpPr>
        <p:spPr>
          <a:xfrm>
            <a:off x="523875" y="3760000"/>
            <a:ext cx="8096250" cy="1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1.  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Segment users and servers using VLANs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2.  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Enable inter-VLAN routing (router-on-a-stick)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3.  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Configure DHCP (with relay), DNS and HTTP services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4.  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Restrict student access to the server subnet using an ACL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5.  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Enable SSH remote management of the router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6.  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Configure port security and shut down unused switch ports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7.  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network functionality through testing</a:t>
            </a:r>
          </a:p>
        </p:txBody>
      </p:sp>
      <p:sp>
        <p:nvSpPr>
          <p:cNvPr id="220" name="VLAN chip 1"/>
          <p:cNvSpPr/>
          <p:nvPr/>
        </p:nvSpPr>
        <p:spPr>
          <a:xfrm>
            <a:off x="5950000" y="1250000"/>
            <a:ext cx="2670000" cy="540000"/>
          </a:xfrm>
          <a:prstGeom prst="roundRect">
            <a:avLst>
              <a:gd name="adj" fmla="val 18000"/>
            </a:avLst>
          </a:prstGeom>
          <a:solidFill>
            <a:srgbClr val="1F5FA8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VLAN 10</a:t>
            </a:r>
            <a:r>
              <a:rPr lang="en-US" sz="15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</a:t>
            </a:r>
            <a:r>
              <a:rPr lang="en-US" sz="15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221" name="VLAN chip 2"/>
          <p:cNvSpPr/>
          <p:nvPr/>
        </p:nvSpPr>
        <p:spPr>
          <a:xfrm>
            <a:off x="5950000" y="1890000"/>
            <a:ext cx="2670000" cy="540000"/>
          </a:xfrm>
          <a:prstGeom prst="roundRect">
            <a:avLst>
              <a:gd name="adj" fmla="val 18000"/>
            </a:avLst>
          </a:prstGeom>
          <a:solidFill>
            <a:srgbClr val="2E7D4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VLAN 20</a:t>
            </a:r>
            <a:r>
              <a:rPr lang="en-US" sz="15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</a:t>
            </a:r>
            <a:r>
              <a:rPr lang="en-US" sz="15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222" name="VLAN chip 3"/>
          <p:cNvSpPr/>
          <p:nvPr/>
        </p:nvSpPr>
        <p:spPr>
          <a:xfrm>
            <a:off x="5950000" y="2530000"/>
            <a:ext cx="2670000" cy="540000"/>
          </a:xfrm>
          <a:prstGeom prst="roundRect">
            <a:avLst>
              <a:gd name="adj" fmla="val 18000"/>
            </a:avLst>
          </a:prstGeom>
          <a:solidFill>
            <a:srgbClr val="B8590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VLAN 40</a:t>
            </a:r>
            <a:r>
              <a:rPr lang="en-US" sz="15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</a:t>
            </a:r>
            <a:r>
              <a:rPr lang="en-US" sz="15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SERVERS</a:t>
            </a:r>
          </a:p>
        </p:txBody>
      </p:sp>
      <p:sp>
        <p:nvSpPr>
          <p:cNvPr id="223" name="Scope banner"/>
          <p:cNvSpPr/>
          <p:nvPr/>
        </p:nvSpPr>
        <p:spPr>
          <a:xfrm>
            <a:off x="523875" y="5700000"/>
            <a:ext cx="8096250" cy="430000"/>
          </a:xfrm>
          <a:prstGeom prst="roundRect">
            <a:avLst>
              <a:gd name="adj" fmla="val 20000"/>
            </a:avLst>
          </a:prstGeom>
          <a:solidFill>
            <a:srgbClr val="E8ECF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Scope: 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simulated campus LAN in Cisco Packet Tracer – no external WAN or public Internet connection.</a:t>
            </a: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45 seconds</a:t>
            </a:r>
          </a:p>
        </p:txBody>
      </p:sp>
      <p:sp>
        <p:nvSpPr>
          <p:cNvPr id="301" name="R1 router"/>
          <p:cNvSpPr/>
          <p:nvPr/>
        </p:nvSpPr>
        <p:spPr>
          <a:xfrm>
            <a:off x="3443875" y="1100000"/>
            <a:ext cx="2400000" cy="560000"/>
          </a:xfrm>
          <a:prstGeom prst="roundRect">
            <a:avLst>
              <a:gd name="adj" fmla="val 15000"/>
            </a:avLst>
          </a:prstGeom>
          <a:solidFill>
            <a:srgbClr val="20375C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R1 · Cisco 2911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Inter-VLAN routing · ACL · SSH v2</a:t>
            </a:r>
          </a:p>
        </p:txBody>
      </p:sp>
      <p:cxnSp>
        <p:nvCxnSpPr>
          <p:cNvPr id="302" name="Trunk R1-Switch0"/>
          <p:cNvCxnSpPr/>
          <p:nvPr/>
        </p:nvCxnSpPr>
        <p:spPr>
          <a:xfrm>
            <a:off x="4643875" y="1660000"/>
            <a:ext cx="0" cy="490000"/>
          </a:xfrm>
          <a:prstGeom prst="line">
            <a:avLst/>
          </a:prstGeom>
          <a:ln w="31750">
            <a:solidFill>
              <a:srgbClr val="20375C"/>
            </a:solidFill>
          </a:ln>
        </p:spPr>
      </p:cxnSp>
      <p:cxnSp>
        <p:nvCxnSpPr>
          <p:cNvPr id="303" name="Trunk R1-Switch1"/>
          <p:cNvCxnSpPr/>
          <p:nvPr/>
        </p:nvCxnSpPr>
        <p:spPr>
          <a:xfrm>
            <a:off x="5543875" y="1660000"/>
            <a:ext cx="1858125" cy="490000"/>
          </a:xfrm>
          <a:prstGeom prst="line">
            <a:avLst/>
          </a:prstGeom>
          <a:ln w="31750">
            <a:solidFill>
              <a:srgbClr val="20375C"/>
            </a:solidFill>
          </a:ln>
        </p:spPr>
      </p:cxnSp>
      <p:sp>
        <p:nvSpPr>
          <p:cNvPr id="304" name="Trunk label L"/>
          <p:cNvSpPr txBox="1"/>
          <p:nvPr/>
        </p:nvSpPr>
        <p:spPr>
          <a:xfrm>
            <a:off x="4723875" y="1770000"/>
            <a:ext cx="7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Trunk</a:t>
            </a:r>
          </a:p>
        </p:txBody>
      </p:sp>
      <p:sp>
        <p:nvSpPr>
          <p:cNvPr id="305" name="Trunk label R"/>
          <p:cNvSpPr txBox="1"/>
          <p:nvPr/>
        </p:nvSpPr>
        <p:spPr>
          <a:xfrm>
            <a:off x="6243875" y="1590000"/>
            <a:ext cx="7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Trunk</a:t>
            </a:r>
          </a:p>
        </p:txBody>
      </p:sp>
      <p:sp>
        <p:nvSpPr>
          <p:cNvPr id="306" name="Switch2"/>
          <p:cNvSpPr/>
          <p:nvPr/>
        </p:nvSpPr>
        <p:spPr>
          <a:xfrm>
            <a:off x="863875" y="2150000"/>
            <a:ext cx="1900000" cy="400000"/>
          </a:xfrm>
          <a:prstGeom prst="roundRect">
            <a:avLst>
              <a:gd name="adj" fmla="val 15000"/>
            </a:avLst>
          </a:prstGeom>
          <a:solidFill>
            <a:srgbClr val="3B4F73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Switch2 · Cisco 2960</a:t>
            </a:r>
          </a:p>
        </p:txBody>
      </p:sp>
      <p:sp>
        <p:nvSpPr>
          <p:cNvPr id="307" name="Switch0"/>
          <p:cNvSpPr/>
          <p:nvPr/>
        </p:nvSpPr>
        <p:spPr>
          <a:xfrm>
            <a:off x="3693875" y="2150000"/>
            <a:ext cx="1900000" cy="400000"/>
          </a:xfrm>
          <a:prstGeom prst="roundRect">
            <a:avLst>
              <a:gd name="adj" fmla="val 15000"/>
            </a:avLst>
          </a:prstGeom>
          <a:solidFill>
            <a:srgbClr val="3B4F73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Switch0 · Cisco 2960</a:t>
            </a:r>
          </a:p>
        </p:txBody>
      </p:sp>
      <p:sp>
        <p:nvSpPr>
          <p:cNvPr id="308" name="Switch1"/>
          <p:cNvSpPr/>
          <p:nvPr/>
        </p:nvSpPr>
        <p:spPr>
          <a:xfrm>
            <a:off x="6452000" y="2150000"/>
            <a:ext cx="1900000" cy="400000"/>
          </a:xfrm>
          <a:prstGeom prst="roundRect">
            <a:avLst>
              <a:gd name="adj" fmla="val 15000"/>
            </a:avLst>
          </a:prstGeom>
          <a:solidFill>
            <a:srgbClr val="3B4F73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Switch1 · Cisco 2960</a:t>
            </a:r>
          </a:p>
        </p:txBody>
      </p:sp>
      <p:cxnSp>
        <p:nvCxnSpPr>
          <p:cNvPr id="309" name="Trunk Switch2-Switch0"/>
          <p:cNvCxnSpPr/>
          <p:nvPr/>
        </p:nvCxnSpPr>
        <p:spPr>
          <a:xfrm>
            <a:off x="2763875" y="2350000"/>
            <a:ext cx="930000" cy="0"/>
          </a:xfrm>
          <a:prstGeom prst="line">
            <a:avLst/>
          </a:prstGeom>
          <a:ln w="31750">
            <a:solidFill>
              <a:srgbClr val="20375C"/>
            </a:solidFill>
          </a:ln>
        </p:spPr>
      </p:cxnSp>
      <p:sp>
        <p:nvSpPr>
          <p:cNvPr id="310" name="Trunk label S2-S0"/>
          <p:cNvSpPr txBox="1"/>
          <p:nvPr/>
        </p:nvSpPr>
        <p:spPr>
          <a:xfrm>
            <a:off x="2763875" y="2410000"/>
            <a:ext cx="93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Trunk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VLAN 10/20/40</a:t>
            </a:r>
          </a:p>
        </p:txBody>
      </p:sp>
      <p:cxnSp>
        <p:nvCxnSpPr>
          <p:cNvPr id="311" name="Access bus Switch2 (VLAN 10)"/>
          <p:cNvCxnSpPr/>
          <p:nvPr/>
        </p:nvCxnSpPr>
        <p:spPr>
          <a:xfrm>
            <a:off x="1813875" y="2550000"/>
            <a:ext cx="0" cy="500000"/>
          </a:xfrm>
          <a:prstGeom prst="line">
            <a:avLst/>
          </a:prstGeom>
          <a:ln w="19050">
            <a:solidFill>
              <a:srgbClr val="1F5FA8"/>
            </a:solidFill>
          </a:ln>
        </p:spPr>
      </p:cxnSp>
      <p:cxnSp>
        <p:nvCxnSpPr>
          <p:cNvPr id="312" name="Access bus Switch2 (VLAN 20)"/>
          <p:cNvCxnSpPr/>
          <p:nvPr/>
        </p:nvCxnSpPr>
        <p:spPr>
          <a:xfrm>
            <a:off x="1813875" y="3050000"/>
            <a:ext cx="0" cy="630000"/>
          </a:xfrm>
          <a:prstGeom prst="line">
            <a:avLst/>
          </a:prstGeom>
          <a:ln w="19050">
            <a:solidFill>
              <a:srgbClr val="2E7D4F"/>
            </a:solidFill>
          </a:ln>
        </p:spPr>
      </p:cxnSp>
      <p:cxnSp>
        <p:nvCxnSpPr>
          <p:cNvPr id="313" name="Access link PC3"/>
          <p:cNvCxnSpPr/>
          <p:nvPr/>
        </p:nvCxnSpPr>
        <p:spPr>
          <a:xfrm>
            <a:off x="1723875" y="3050000"/>
            <a:ext cx="90000" cy="0"/>
          </a:xfrm>
          <a:prstGeom prst="line">
            <a:avLst/>
          </a:prstGeom>
          <a:ln w="19050">
            <a:solidFill>
              <a:srgbClr val="1F5FA8"/>
            </a:solidFill>
          </a:ln>
        </p:spPr>
      </p:cxnSp>
      <p:sp>
        <p:nvSpPr>
          <p:cNvPr id="314" name="PC3"/>
          <p:cNvSpPr/>
          <p:nvPr/>
        </p:nvSpPr>
        <p:spPr>
          <a:xfrm>
            <a:off x="523875" y="2800000"/>
            <a:ext cx="1200000" cy="500000"/>
          </a:xfrm>
          <a:prstGeom prst="roundRect">
            <a:avLst>
              <a:gd name="adj" fmla="val 15000"/>
            </a:avLst>
          </a:prstGeom>
          <a:solidFill>
            <a:srgbClr val="1F5FA8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PC3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· VLAN 10</a:t>
            </a:r>
          </a:p>
        </p:txBody>
      </p:sp>
      <p:cxnSp>
        <p:nvCxnSpPr>
          <p:cNvPr id="315" name="Access link PC4"/>
          <p:cNvCxnSpPr/>
          <p:nvPr/>
        </p:nvCxnSpPr>
        <p:spPr>
          <a:xfrm>
            <a:off x="1813875" y="3050000"/>
            <a:ext cx="90000" cy="0"/>
          </a:xfrm>
          <a:prstGeom prst="line">
            <a:avLst/>
          </a:prstGeom>
          <a:ln w="19050">
            <a:solidFill>
              <a:srgbClr val="1F5FA8"/>
            </a:solidFill>
          </a:ln>
        </p:spPr>
      </p:cxnSp>
      <p:sp>
        <p:nvSpPr>
          <p:cNvPr id="316" name="PC4"/>
          <p:cNvSpPr/>
          <p:nvPr/>
        </p:nvSpPr>
        <p:spPr>
          <a:xfrm>
            <a:off x="1903875" y="2800000"/>
            <a:ext cx="1200000" cy="500000"/>
          </a:xfrm>
          <a:prstGeom prst="roundRect">
            <a:avLst>
              <a:gd name="adj" fmla="val 15000"/>
            </a:avLst>
          </a:prstGeom>
          <a:solidFill>
            <a:srgbClr val="1F5FA8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PC4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· VLAN 10</a:t>
            </a:r>
          </a:p>
        </p:txBody>
      </p:sp>
      <p:cxnSp>
        <p:nvCxnSpPr>
          <p:cNvPr id="317" name="Access link PC5"/>
          <p:cNvCxnSpPr/>
          <p:nvPr/>
        </p:nvCxnSpPr>
        <p:spPr>
          <a:xfrm>
            <a:off x="1723875" y="3680000"/>
            <a:ext cx="90000" cy="0"/>
          </a:xfrm>
          <a:prstGeom prst="line">
            <a:avLst/>
          </a:prstGeom>
          <a:ln w="19050">
            <a:solidFill>
              <a:srgbClr val="2E7D4F"/>
            </a:solidFill>
          </a:ln>
        </p:spPr>
      </p:cxnSp>
      <p:sp>
        <p:nvSpPr>
          <p:cNvPr id="318" name="PC5"/>
          <p:cNvSpPr/>
          <p:nvPr/>
        </p:nvSpPr>
        <p:spPr>
          <a:xfrm>
            <a:off x="523875" y="3430000"/>
            <a:ext cx="1200000" cy="500000"/>
          </a:xfrm>
          <a:prstGeom prst="roundRect">
            <a:avLst>
              <a:gd name="adj" fmla="val 15000"/>
            </a:avLst>
          </a:prstGeom>
          <a:solidFill>
            <a:srgbClr val="2E7D4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PC5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· VLAN 20</a:t>
            </a:r>
          </a:p>
        </p:txBody>
      </p:sp>
      <p:cxnSp>
        <p:nvCxnSpPr>
          <p:cNvPr id="319" name="Access link PC6"/>
          <p:cNvCxnSpPr/>
          <p:nvPr/>
        </p:nvCxnSpPr>
        <p:spPr>
          <a:xfrm>
            <a:off x="1813875" y="3680000"/>
            <a:ext cx="90000" cy="0"/>
          </a:xfrm>
          <a:prstGeom prst="line">
            <a:avLst/>
          </a:prstGeom>
          <a:ln w="19050">
            <a:solidFill>
              <a:srgbClr val="2E7D4F"/>
            </a:solidFill>
          </a:ln>
        </p:spPr>
      </p:cxnSp>
      <p:sp>
        <p:nvSpPr>
          <p:cNvPr id="320" name="PC6"/>
          <p:cNvSpPr/>
          <p:nvPr/>
        </p:nvSpPr>
        <p:spPr>
          <a:xfrm>
            <a:off x="1903875" y="3430000"/>
            <a:ext cx="1200000" cy="500000"/>
          </a:xfrm>
          <a:prstGeom prst="roundRect">
            <a:avLst>
              <a:gd name="adj" fmla="val 15000"/>
            </a:avLst>
          </a:prstGeom>
          <a:solidFill>
            <a:srgbClr val="2E7D4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PC6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· VLAN 20</a:t>
            </a:r>
          </a:p>
        </p:txBody>
      </p:sp>
      <p:cxnSp>
        <p:nvCxnSpPr>
          <p:cNvPr id="321" name="Access bus Switch0 (VLAN 10)"/>
          <p:cNvCxnSpPr/>
          <p:nvPr/>
        </p:nvCxnSpPr>
        <p:spPr>
          <a:xfrm>
            <a:off x="4643875" y="2550000"/>
            <a:ext cx="0" cy="500000"/>
          </a:xfrm>
          <a:prstGeom prst="line">
            <a:avLst/>
          </a:prstGeom>
          <a:ln w="19050">
            <a:solidFill>
              <a:srgbClr val="1F5FA8"/>
            </a:solidFill>
          </a:ln>
        </p:spPr>
      </p:cxnSp>
      <p:cxnSp>
        <p:nvCxnSpPr>
          <p:cNvPr id="322" name="Access bus Switch0 (VLAN 20)"/>
          <p:cNvCxnSpPr/>
          <p:nvPr/>
        </p:nvCxnSpPr>
        <p:spPr>
          <a:xfrm>
            <a:off x="4643875" y="3050000"/>
            <a:ext cx="0" cy="630000"/>
          </a:xfrm>
          <a:prstGeom prst="line">
            <a:avLst/>
          </a:prstGeom>
          <a:ln w="19050">
            <a:solidFill>
              <a:srgbClr val="2E7D4F"/>
            </a:solidFill>
          </a:ln>
        </p:spPr>
      </p:cxnSp>
      <p:cxnSp>
        <p:nvCxnSpPr>
          <p:cNvPr id="323" name="Access link PC0"/>
          <p:cNvCxnSpPr/>
          <p:nvPr/>
        </p:nvCxnSpPr>
        <p:spPr>
          <a:xfrm>
            <a:off x="4553875" y="3050000"/>
            <a:ext cx="90000" cy="0"/>
          </a:xfrm>
          <a:prstGeom prst="line">
            <a:avLst/>
          </a:prstGeom>
          <a:ln w="19050">
            <a:solidFill>
              <a:srgbClr val="1F5FA8"/>
            </a:solidFill>
          </a:ln>
        </p:spPr>
      </p:cxnSp>
      <p:sp>
        <p:nvSpPr>
          <p:cNvPr id="324" name="PC0"/>
          <p:cNvSpPr/>
          <p:nvPr/>
        </p:nvSpPr>
        <p:spPr>
          <a:xfrm>
            <a:off x="3353875" y="2800000"/>
            <a:ext cx="1200000" cy="500000"/>
          </a:xfrm>
          <a:prstGeom prst="roundRect">
            <a:avLst>
              <a:gd name="adj" fmla="val 15000"/>
            </a:avLst>
          </a:prstGeom>
          <a:solidFill>
            <a:srgbClr val="1F5FA8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PC0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· VLAN 10</a:t>
            </a:r>
          </a:p>
        </p:txBody>
      </p:sp>
      <p:cxnSp>
        <p:nvCxnSpPr>
          <p:cNvPr id="325" name="Access link PC1"/>
          <p:cNvCxnSpPr/>
          <p:nvPr/>
        </p:nvCxnSpPr>
        <p:spPr>
          <a:xfrm>
            <a:off x="4643875" y="3050000"/>
            <a:ext cx="90000" cy="0"/>
          </a:xfrm>
          <a:prstGeom prst="line">
            <a:avLst/>
          </a:prstGeom>
          <a:ln w="19050">
            <a:solidFill>
              <a:srgbClr val="1F5FA8"/>
            </a:solidFill>
          </a:ln>
        </p:spPr>
      </p:cxnSp>
      <p:sp>
        <p:nvSpPr>
          <p:cNvPr id="326" name="PC1"/>
          <p:cNvSpPr/>
          <p:nvPr/>
        </p:nvSpPr>
        <p:spPr>
          <a:xfrm>
            <a:off x="4733875" y="2800000"/>
            <a:ext cx="1200000" cy="500000"/>
          </a:xfrm>
          <a:prstGeom prst="roundRect">
            <a:avLst>
              <a:gd name="adj" fmla="val 15000"/>
            </a:avLst>
          </a:prstGeom>
          <a:solidFill>
            <a:srgbClr val="1F5FA8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PC1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· VLAN 10</a:t>
            </a:r>
          </a:p>
        </p:txBody>
      </p:sp>
      <p:cxnSp>
        <p:nvCxnSpPr>
          <p:cNvPr id="327" name="Access link PC2"/>
          <p:cNvCxnSpPr/>
          <p:nvPr/>
        </p:nvCxnSpPr>
        <p:spPr>
          <a:xfrm>
            <a:off x="4553875" y="3680000"/>
            <a:ext cx="90000" cy="0"/>
          </a:xfrm>
          <a:prstGeom prst="line">
            <a:avLst/>
          </a:prstGeom>
          <a:ln w="19050">
            <a:solidFill>
              <a:srgbClr val="2E7D4F"/>
            </a:solidFill>
          </a:ln>
        </p:spPr>
      </p:cxnSp>
      <p:sp>
        <p:nvSpPr>
          <p:cNvPr id="328" name="PC2"/>
          <p:cNvSpPr/>
          <p:nvPr/>
        </p:nvSpPr>
        <p:spPr>
          <a:xfrm>
            <a:off x="3353875" y="3430000"/>
            <a:ext cx="1200000" cy="500000"/>
          </a:xfrm>
          <a:prstGeom prst="roundRect">
            <a:avLst>
              <a:gd name="adj" fmla="val 15000"/>
            </a:avLst>
          </a:prstGeom>
          <a:solidFill>
            <a:srgbClr val="2E7D4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PC2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· VLAN 20</a:t>
            </a:r>
          </a:p>
        </p:txBody>
      </p:sp>
      <p:cxnSp>
        <p:nvCxnSpPr>
          <p:cNvPr id="329" name="Access link Server0"/>
          <p:cNvCxnSpPr/>
          <p:nvPr/>
        </p:nvCxnSpPr>
        <p:spPr>
          <a:xfrm flipH="1">
            <a:off x="6773875" y="2550000"/>
            <a:ext cx="628125" cy="250000"/>
          </a:xfrm>
          <a:prstGeom prst="line">
            <a:avLst/>
          </a:prstGeom>
          <a:ln w="19050">
            <a:solidFill>
              <a:srgbClr val="B8590F"/>
            </a:solidFill>
          </a:ln>
        </p:spPr>
      </p:cxnSp>
      <p:sp>
        <p:nvSpPr>
          <p:cNvPr id="330" name="Server0"/>
          <p:cNvSpPr/>
          <p:nvPr/>
        </p:nvSpPr>
        <p:spPr>
          <a:xfrm>
            <a:off x="6183875" y="2800000"/>
            <a:ext cx="1180000" cy="640000"/>
          </a:xfrm>
          <a:prstGeom prst="roundRect">
            <a:avLst>
              <a:gd name="adj" fmla="val 15000"/>
            </a:avLst>
          </a:prstGeom>
          <a:solidFill>
            <a:srgbClr val="B8590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DHCP / DNS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192.168.40.2/24</a:t>
            </a:r>
          </a:p>
        </p:txBody>
      </p:sp>
      <p:cxnSp>
        <p:nvCxnSpPr>
          <p:cNvPr id="331" name="Access link Server1"/>
          <p:cNvCxnSpPr/>
          <p:nvPr/>
        </p:nvCxnSpPr>
        <p:spPr>
          <a:xfrm>
            <a:off x="7402000" y="2550000"/>
            <a:ext cx="628125" cy="250000"/>
          </a:xfrm>
          <a:prstGeom prst="line">
            <a:avLst/>
          </a:prstGeom>
          <a:ln w="19050">
            <a:solidFill>
              <a:srgbClr val="B8590F"/>
            </a:solidFill>
          </a:ln>
        </p:spPr>
      </p:cxnSp>
      <p:sp>
        <p:nvSpPr>
          <p:cNvPr id="332" name="Server1"/>
          <p:cNvSpPr/>
          <p:nvPr/>
        </p:nvSpPr>
        <p:spPr>
          <a:xfrm>
            <a:off x="7440125" y="2800000"/>
            <a:ext cx="1180000" cy="640000"/>
          </a:xfrm>
          <a:prstGeom prst="roundRect">
            <a:avLst>
              <a:gd name="adj" fmla="val 15000"/>
            </a:avLst>
          </a:prstGeom>
          <a:solidFill>
            <a:srgbClr val="B8590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 website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192.168.40.3/24</a:t>
            </a:r>
          </a:p>
        </p:txBody>
      </p:sp>
      <p:sp>
        <p:nvSpPr>
          <p:cNvPr id="333" name="Legend 1"/>
          <p:cNvSpPr/>
          <p:nvPr/>
        </p:nvSpPr>
        <p:spPr>
          <a:xfrm>
            <a:off x="523875" y="4130000"/>
            <a:ext cx="1900000" cy="270000"/>
          </a:xfrm>
          <a:prstGeom prst="roundRect">
            <a:avLst>
              <a:gd name="adj" fmla="val 30000"/>
            </a:avLst>
          </a:prstGeom>
          <a:solidFill>
            <a:srgbClr val="1F5FA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VLAN 10 Students</a:t>
            </a:r>
          </a:p>
        </p:txBody>
      </p:sp>
      <p:sp>
        <p:nvSpPr>
          <p:cNvPr id="334" name="Legend 2"/>
          <p:cNvSpPr/>
          <p:nvPr/>
        </p:nvSpPr>
        <p:spPr>
          <a:xfrm>
            <a:off x="2543875" y="4130000"/>
            <a:ext cx="1900000" cy="270000"/>
          </a:xfrm>
          <a:prstGeom prst="roundRect">
            <a:avLst>
              <a:gd name="adj" fmla="val 30000"/>
            </a:avLst>
          </a:prstGeom>
          <a:solidFill>
            <a:srgbClr val="2E7D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VLAN 20 Faculty</a:t>
            </a:r>
          </a:p>
        </p:txBody>
      </p:sp>
      <p:sp>
        <p:nvSpPr>
          <p:cNvPr id="335" name="Legend 3"/>
          <p:cNvSpPr/>
          <p:nvPr/>
        </p:nvSpPr>
        <p:spPr>
          <a:xfrm>
            <a:off x="4563875" y="4130000"/>
            <a:ext cx="1900000" cy="270000"/>
          </a:xfrm>
          <a:prstGeom prst="roundRect">
            <a:avLst>
              <a:gd name="adj" fmla="val 30000"/>
            </a:avLst>
          </a:prstGeom>
          <a:solidFill>
            <a:srgbClr val="B8590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VLAN 40 Servers</a:t>
            </a:r>
          </a:p>
        </p:txBody>
      </p:sp>
      <p:sp>
        <p:nvSpPr>
          <p:cNvPr id="336" name="Legend 4"/>
          <p:cNvSpPr/>
          <p:nvPr/>
        </p:nvSpPr>
        <p:spPr>
          <a:xfrm>
            <a:off x="6583875" y="4130000"/>
            <a:ext cx="1900000" cy="270000"/>
          </a:xfrm>
          <a:prstGeom prst="roundRect">
            <a:avLst>
              <a:gd name="adj" fmla="val 30000"/>
            </a:avLst>
          </a:prstGeom>
          <a:solidFill>
            <a:srgbClr val="20375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Trunk (802.1Q)</a:t>
            </a:r>
          </a:p>
        </p:txBody>
      </p:sp>
      <p:sp>
        <p:nvSpPr>
          <p:cNvPr id="337" name="Screenshot replacement note"/>
          <p:cNvSpPr txBox="1"/>
          <p:nvPr/>
        </p:nvSpPr>
        <p:spPr>
          <a:xfrm>
            <a:off x="523875" y="4450000"/>
            <a:ext cx="809625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b="0" i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Schematic redrawn from the expanded topology – replace with the actual Packet Tracer topology screenshot.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523875" y="4700000"/>
            <a:ext cx="8096250" cy="15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3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Tools: 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Cisco Packet Tracer 9.0.1 · 1 router (2911) · 3 switches (2960) · 7 PCs · 2 servers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3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Protocols: 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VLANs, IEEE 802.1Q trunking [1], DHCP, DNS, HTTP, ACL, SSH v2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3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Addressing: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300" b="1" i="0" dirty="0">
                <a:solidFill>
                  <a:srgbClr val="1F5FA8"/>
                </a:solidFill>
                <a:latin typeface="Arial"/>
                <a:ea typeface="Arial"/>
                <a:cs typeface="Arial"/>
              </a:rPr>
              <a:t>VLAN 10 STUDENTS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192.168.10.0/24   gateway </a:t>
            </a:r>
            <a:r>
              <a:rPr lang="en-US" sz="1300" b="1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192.168.10.1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300" b="1" i="0" dirty="0">
                <a:solidFill>
                  <a:srgbClr val="2E7D4F"/>
                </a:solidFill>
                <a:latin typeface="Arial"/>
                <a:ea typeface="Arial"/>
                <a:cs typeface="Arial"/>
              </a:rPr>
              <a:t>VLAN 20 FACULTY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  192.168.30.0/24   gateway </a:t>
            </a:r>
            <a:r>
              <a:rPr lang="en-US" sz="1300" b="1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192.168.30.1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B8590F"/>
                </a:solidFill>
                <a:latin typeface="Arial"/>
                <a:ea typeface="Arial"/>
                <a:cs typeface="Arial"/>
              </a:rPr>
              <a:t>VLAN 40 SERVERS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 192.168.40.0/24   gateway </a:t>
            </a:r>
            <a:r>
              <a:rPr lang="en-US" sz="1300" b="1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192.168.40.1</a:t>
            </a:r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6265A-7667-4F74-BB20-92A5B1B71102}"/>
              </a:ext>
            </a:extLst>
          </p:cNvPr>
          <p:cNvSpPr>
            <a:spLocks noGrp="1"/>
          </p:cNvSpPr>
          <p:nvPr/>
        </p:nvSpPr>
        <p:spPr>
          <a:xfrm>
            <a:off x="523875" y="3480000"/>
            <a:ext cx="8096250" cy="27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1. VLANs 10/20/40 created; access ports assigned [2]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2. 802.1Q trunks to R1; router subinterfaces act as gateways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3. DHCP pools, relay (</a:t>
            </a:r>
            <a:r>
              <a:rPr lang="en-US" sz="1200" b="1" i="0" dirty="0">
                <a:solidFill>
                  <a:srgbClr val="A12A2A"/>
                </a:solidFill>
                <a:latin typeface="Courier New"/>
                <a:ea typeface="Courier New"/>
                <a:cs typeface="Courier New"/>
              </a:rPr>
              <a:t>ip helper-address 192.168.40.2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) [6], DNS, HTTP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4. Student ACL </a:t>
            </a:r>
            <a:r>
              <a:rPr lang="en-US" sz="1200" b="1" i="0" dirty="0">
                <a:solidFill>
                  <a:srgbClr val="A12A2A"/>
                </a:solidFill>
                <a:latin typeface="Courier New"/>
                <a:ea typeface="Courier New"/>
                <a:cs typeface="Courier New"/>
              </a:rPr>
              <a:t>STUDENT-RESTRICTIONS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[3], SSH v2 [4], port security [5], unused ports shut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Expansion: 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Switch2 and four PCs (PC3–PC6) added, trunked to Switch0 (VLANs 10, 20, 40). Existing VLANs and IP subnets reused – no extra router or new subnet needed.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Working: 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Relay forwards client DHCP requests to Server0; DNS resolves the domain to Server1’s IP; R1 routes between VLANs and the ACL filters student traffic.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Troubleshooting: </a:t>
            </a:r>
            <a:r>
              <a:rPr lang="en-US" sz="14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faculty DHCP gateway corrected to </a:t>
            </a:r>
            <a:r>
              <a:rPr lang="en-US" sz="1400" b="1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192.168.30.1</a:t>
            </a:r>
          </a:p>
        </p:txBody>
      </p:sp>
      <p:sp>
        <p:nvSpPr>
          <p:cNvPr id="245" name="Flow step 1"/>
          <p:cNvSpPr/>
          <p:nvPr/>
        </p:nvSpPr>
        <p:spPr>
          <a:xfrm>
            <a:off x="523875" y="1180000"/>
            <a:ext cx="1400000" cy="950000"/>
          </a:xfrm>
          <a:prstGeom prst="roundRect">
            <a:avLst>
              <a:gd name="adj" fmla="val 12000"/>
            </a:avLst>
          </a:prstGeom>
          <a:solidFill>
            <a:srgbClr val="1F5FA8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PC0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Student, VLAN 10</a:t>
            </a:r>
          </a:p>
        </p:txBody>
      </p:sp>
      <p:sp>
        <p:nvSpPr>
          <p:cNvPr id="246" name="Flow arrow 1"/>
          <p:cNvSpPr/>
          <p:nvPr/>
        </p:nvSpPr>
        <p:spPr>
          <a:xfrm>
            <a:off x="1953875" y="1560000"/>
            <a:ext cx="214000" cy="190000"/>
          </a:xfrm>
          <a:prstGeom prst="rightArrow">
            <a:avLst/>
          </a:prstGeom>
          <a:solidFill>
            <a:srgbClr val="8A94A6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47" name="Flow step 2"/>
          <p:cNvSpPr/>
          <p:nvPr/>
        </p:nvSpPr>
        <p:spPr>
          <a:xfrm>
            <a:off x="2197875" y="1180000"/>
            <a:ext cx="1400000" cy="950000"/>
          </a:xfrm>
          <a:prstGeom prst="roundRect">
            <a:avLst>
              <a:gd name="adj" fmla="val 12000"/>
            </a:avLst>
          </a:prstGeom>
          <a:solidFill>
            <a:srgbClr val="20375C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DHCP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IP via relay from Server0</a:t>
            </a:r>
          </a:p>
        </p:txBody>
      </p:sp>
      <p:sp>
        <p:nvSpPr>
          <p:cNvPr id="248" name="Flow arrow 2"/>
          <p:cNvSpPr/>
          <p:nvPr/>
        </p:nvSpPr>
        <p:spPr>
          <a:xfrm>
            <a:off x="3627875" y="1560000"/>
            <a:ext cx="214000" cy="190000"/>
          </a:xfrm>
          <a:prstGeom prst="rightArrow">
            <a:avLst/>
          </a:prstGeom>
          <a:solidFill>
            <a:srgbClr val="8A94A6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49" name="Flow step 3"/>
          <p:cNvSpPr/>
          <p:nvPr/>
        </p:nvSpPr>
        <p:spPr>
          <a:xfrm>
            <a:off x="3871875" y="1180000"/>
            <a:ext cx="1400000" cy="950000"/>
          </a:xfrm>
          <a:prstGeom prst="roundRect">
            <a:avLst>
              <a:gd name="adj" fmla="val 12000"/>
            </a:avLst>
          </a:prstGeom>
          <a:solidFill>
            <a:srgbClr val="20375C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DNS lookup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 → 192.168.40.3</a:t>
            </a:r>
          </a:p>
        </p:txBody>
      </p:sp>
      <p:sp>
        <p:nvSpPr>
          <p:cNvPr id="250" name="Flow arrow 3"/>
          <p:cNvSpPr/>
          <p:nvPr/>
        </p:nvSpPr>
        <p:spPr>
          <a:xfrm>
            <a:off x="5301875" y="1560000"/>
            <a:ext cx="214000" cy="190000"/>
          </a:xfrm>
          <a:prstGeom prst="rightArrow">
            <a:avLst/>
          </a:prstGeom>
          <a:solidFill>
            <a:srgbClr val="8A94A6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51" name="Flow step 4"/>
          <p:cNvSpPr/>
          <p:nvPr/>
        </p:nvSpPr>
        <p:spPr>
          <a:xfrm>
            <a:off x="5545875" y="1180000"/>
            <a:ext cx="1400000" cy="950000"/>
          </a:xfrm>
          <a:prstGeom prst="roundRect">
            <a:avLst>
              <a:gd name="adj" fmla="val 12000"/>
            </a:avLst>
          </a:prstGeom>
          <a:solidFill>
            <a:srgbClr val="20375C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R1 + ACL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routes; ACL permits DNS, HTTP</a:t>
            </a:r>
          </a:p>
        </p:txBody>
      </p:sp>
      <p:sp>
        <p:nvSpPr>
          <p:cNvPr id="252" name="Flow arrow 4"/>
          <p:cNvSpPr/>
          <p:nvPr/>
        </p:nvSpPr>
        <p:spPr>
          <a:xfrm>
            <a:off x="6975875" y="1560000"/>
            <a:ext cx="214000" cy="190000"/>
          </a:xfrm>
          <a:prstGeom prst="rightArrow">
            <a:avLst/>
          </a:prstGeom>
          <a:solidFill>
            <a:srgbClr val="8A94A6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53" name="Flow step 5"/>
          <p:cNvSpPr/>
          <p:nvPr/>
        </p:nvSpPr>
        <p:spPr>
          <a:xfrm>
            <a:off x="7219875" y="1180000"/>
            <a:ext cx="1400000" cy="950000"/>
          </a:xfrm>
          <a:prstGeom prst="roundRect">
            <a:avLst>
              <a:gd name="adj" fmla="val 12000"/>
            </a:avLst>
          </a:prstGeom>
          <a:solidFill>
            <a:srgbClr val="B8590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 response</a:t>
            </a:r>
          </a:p>
        </p:txBody>
      </p:sp>
      <p:sp>
        <p:nvSpPr>
          <p:cNvPr id="254" name="Detail chip 1"/>
          <p:cNvSpPr/>
          <p:nvPr/>
        </p:nvSpPr>
        <p:spPr>
          <a:xfrm>
            <a:off x="523875" y="2300000"/>
            <a:ext cx="3966250" cy="480000"/>
          </a:xfrm>
          <a:prstGeom prst="roundRect">
            <a:avLst>
              <a:gd name="adj" fmla="val 15000"/>
            </a:avLst>
          </a:prstGeom>
          <a:solidFill>
            <a:srgbClr val="E3EEF9"/>
          </a:solidFill>
          <a:ln>
            <a:noFill/>
          </a:ln>
        </p:spPr>
        <p:txBody>
          <a:bodyPr wrap="square" lIns="91440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1F5FA8"/>
                </a:solidFill>
                <a:latin typeface="Arial"/>
                <a:ea typeface="Arial"/>
                <a:cs typeface="Arial"/>
              </a:rPr>
              <a:t>Student DHCP pool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starts 192.168.10.10 · gateway 192.168.10.1</a:t>
            </a:r>
          </a:p>
        </p:txBody>
      </p:sp>
      <p:sp>
        <p:nvSpPr>
          <p:cNvPr id="255" name="Detail chip 2"/>
          <p:cNvSpPr/>
          <p:nvPr/>
        </p:nvSpPr>
        <p:spPr>
          <a:xfrm>
            <a:off x="4653875" y="2300000"/>
            <a:ext cx="3966250" cy="480000"/>
          </a:xfrm>
          <a:prstGeom prst="roundRect">
            <a:avLst>
              <a:gd name="adj" fmla="val 15000"/>
            </a:avLst>
          </a:prstGeom>
          <a:solidFill>
            <a:srgbClr val="E4F2EA"/>
          </a:solidFill>
          <a:ln>
            <a:noFill/>
          </a:ln>
        </p:spPr>
        <p:txBody>
          <a:bodyPr wrap="square" lIns="91440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2E7D4F"/>
                </a:solidFill>
                <a:latin typeface="Arial"/>
                <a:ea typeface="Arial"/>
                <a:cs typeface="Arial"/>
              </a:rPr>
              <a:t>Faculty DHCP pool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starts 192.168.30.11 · gateway 192.168.30.1</a:t>
            </a:r>
          </a:p>
        </p:txBody>
      </p:sp>
      <p:sp>
        <p:nvSpPr>
          <p:cNvPr id="256" name="Detail chip 3"/>
          <p:cNvSpPr/>
          <p:nvPr/>
        </p:nvSpPr>
        <p:spPr>
          <a:xfrm>
            <a:off x="523875" y="2860000"/>
            <a:ext cx="3966250" cy="480000"/>
          </a:xfrm>
          <a:prstGeom prst="roundRect">
            <a:avLst>
              <a:gd name="adj" fmla="val 15000"/>
            </a:avLst>
          </a:prstGeom>
          <a:solidFill>
            <a:srgbClr val="FBEBDD"/>
          </a:solidFill>
          <a:ln>
            <a:noFill/>
          </a:ln>
        </p:spPr>
        <p:txBody>
          <a:bodyPr wrap="square" lIns="91440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B8590F"/>
                </a:solidFill>
                <a:latin typeface="Arial"/>
                <a:ea typeface="Arial"/>
                <a:cs typeface="Arial"/>
              </a:rPr>
              <a:t>DNS server (Server0)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192.168.40.2</a:t>
            </a:r>
          </a:p>
        </p:txBody>
      </p:sp>
      <p:sp>
        <p:nvSpPr>
          <p:cNvPr id="257" name="Detail chip 4"/>
          <p:cNvSpPr/>
          <p:nvPr/>
        </p:nvSpPr>
        <p:spPr>
          <a:xfrm>
            <a:off x="4653875" y="2860000"/>
            <a:ext cx="3966250" cy="480000"/>
          </a:xfrm>
          <a:prstGeom prst="roundRect">
            <a:avLst>
              <a:gd name="adj" fmla="val 15000"/>
            </a:avLst>
          </a:prstGeom>
          <a:solidFill>
            <a:srgbClr val="FBEBDD"/>
          </a:solidFill>
          <a:ln>
            <a:noFill/>
          </a:ln>
        </p:spPr>
        <p:txBody>
          <a:bodyPr wrap="square" lIns="91440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B8590F"/>
                </a:solidFill>
                <a:latin typeface="Arial"/>
                <a:ea typeface="Arial"/>
                <a:cs typeface="Arial"/>
              </a:rPr>
              <a:t>Website (Server1)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www.collegenetwork.com → 192.168.40.3</a:t>
            </a:r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10CA8-AA41-4067-AE19-358C75D267F6}"/>
              </a:ext>
            </a:extLst>
          </p:cNvPr>
          <p:cNvSpPr>
            <a:spLocks noGrp="1"/>
          </p:cNvSpPr>
          <p:nvPr/>
        </p:nvSpPr>
        <p:spPr>
          <a:xfrm>
            <a:off x="523875" y="4500000"/>
            <a:ext cx="8096250" cy="17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3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Test: 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ping from a student PC to Server0 (192.168.40.2)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3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Expected: 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blocked – the ACL permits specified DNS and web traffic but does not explicitly permit ICMP to the server subnet.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3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Observed: 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ping fails. This reflects ACL policy, not a network fault; web access by domain name still works (reported).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Objectives achieved: 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1–2 (faculty reachability), 3 (DHCP, DNS, HTTP), 4 (ACL), 5 (SSH), 6 (port security) – per the reported results; attach screenshots as evidence.</a:t>
            </a:r>
          </a:p>
        </p:txBody>
      </p:sp>
      <p:graphicFrame>
        <p:nvGraphicFramePr>
          <p:cNvPr id="258" name="Results table"/>
          <p:cNvGraphicFramePr>
            <a:graphicFrameLocks noGrp="1"/>
          </p:cNvGraphicFramePr>
          <p:nvPr/>
        </p:nvGraphicFramePr>
        <p:xfrm>
          <a:off x="523875" y="1180000"/>
          <a:ext cx="5300000" cy="3158432"/>
        </p:xfrm>
        <a:graphic>
          <a:graphicData uri="http://schemas.openxmlformats.org/drawingml/2006/table">
            <a:tbl>
              <a:tblPr firstRow="1"/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2037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2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Student / faculty DHCP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2E7D4F"/>
                          </a:solidFill>
                          <a:latin typeface="Arial"/>
                          <a:ea typeface="Arial"/>
                          <a:cs typeface="Arial"/>
                        </a:rPr>
                        <a:t>Reported successful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Faculty gateway / server reachability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2E7D4F"/>
                          </a:solidFill>
                          <a:latin typeface="Arial"/>
                          <a:ea typeface="Arial"/>
                          <a:cs typeface="Arial"/>
                        </a:rPr>
                        <a:t>Reported successful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Website by domain name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2E7D4F"/>
                          </a:solidFill>
                          <a:latin typeface="Arial"/>
                          <a:ea typeface="Arial"/>
                          <a:cs typeface="Arial"/>
                        </a:rPr>
                        <a:t>Reported successful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SSH login from PC0 to R1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2E7D4F"/>
                          </a:solidFill>
                          <a:latin typeface="Arial"/>
                          <a:ea typeface="Arial"/>
                          <a:cs typeface="Arial"/>
                        </a:rPr>
                        <a:t>Reported successful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Sticky MAC port security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2E7D4F"/>
                          </a:solidFill>
                          <a:latin typeface="Arial"/>
                          <a:ea typeface="Arial"/>
                          <a:cs typeface="Arial"/>
                        </a:rPr>
                        <a:t>SecureSticky entries observed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Student ping to Server0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B8590F"/>
                          </a:solidFill>
                          <a:latin typeface="Arial"/>
                          <a:ea typeface="Arial"/>
                          <a:cs typeface="Arial"/>
                        </a:rPr>
                        <a:t>Blocked as expected by the ACL (ICMP not explicitly permitted)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DHCP on new PCs (PC3–PC6)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2E7D4F"/>
                          </a:solidFill>
                          <a:latin typeface="Arial"/>
                          <a:ea typeface="Arial"/>
                          <a:cs typeface="Arial"/>
                        </a:rPr>
                        <a:t>Addresses assigned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641789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Website from PC3 and PC5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2E7D4F"/>
                          </a:solidFill>
                          <a:latin typeface="Arial"/>
                          <a:ea typeface="Arial"/>
                          <a:cs typeface="Arial"/>
                        </a:rPr>
                        <a:t>Loaded by domain name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119905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Switch2 VLANs and trunk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2E7D4F"/>
                          </a:solidFill>
                          <a:latin typeface="Arial"/>
                          <a:ea typeface="Arial"/>
                          <a:cs typeface="Arial"/>
                        </a:rPr>
                        <a:t>Verified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402546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Switch2 port security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2E7D4F"/>
                          </a:solidFill>
                          <a:latin typeface="Arial"/>
                          <a:ea typeface="Arial"/>
                          <a:cs typeface="Arial"/>
                        </a:rPr>
                        <a:t>1 sticky MAC/port; 0 violations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135806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Simulation Mode (website)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rgbClr val="2E7D4F"/>
                          </a:solidFill>
                          <a:latin typeface="Arial"/>
                          <a:ea typeface="Arial"/>
                          <a:cs typeface="Arial"/>
                        </a:rPr>
                        <a:t>DNS/HTTP events observed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B8C2D3"/>
                      </a:solidFill>
                    </a:lnL>
                    <a:lnR w="6350">
                      <a:solidFill>
                        <a:srgbClr val="B8C2D3"/>
                      </a:solidFill>
                    </a:lnR>
                    <a:lnT w="6350">
                      <a:solidFill>
                        <a:srgbClr val="B8C2D3"/>
                      </a:solidFill>
                    </a:lnT>
                    <a:lnB w="6350">
                      <a:solidFill>
                        <a:srgbClr val="B8C2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395059"/>
                  </a:ext>
                </a:extLst>
              </a:tr>
            </a:tbl>
          </a:graphicData>
        </a:graphic>
      </p:graphicFrame>
      <p:pic>
        <p:nvPicPr>
          <p:cNvPr id="7" name="image8.png">
            <a:extLst>
              <a:ext uri="{FF2B5EF4-FFF2-40B4-BE49-F238E27FC236}">
                <a16:creationId xmlns:a16="http://schemas.microsoft.com/office/drawing/2014/main" id="{4A80C599-E962-3F8B-7B95-14B5E53F135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000001" y="1228368"/>
            <a:ext cx="2572500" cy="311006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DD762-53EC-4E66-840B-4BC66B5F54C7}"/>
              </a:ext>
            </a:extLst>
          </p:cNvPr>
          <p:cNvSpPr>
            <a:spLocks noGrp="1"/>
          </p:cNvSpPr>
          <p:nvPr/>
        </p:nvSpPr>
        <p:spPr>
          <a:xfrm>
            <a:off x="523875" y="1180000"/>
            <a:ext cx="8096250" cy="34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8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Function to demonstrate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0DFDA-9D38-4110-9E96-AA8B9885772D}"/>
              </a:ext>
            </a:extLst>
          </p:cNvPr>
          <p:cNvSpPr>
            <a:spLocks noGrp="1"/>
          </p:cNvSpPr>
          <p:nvPr/>
        </p:nvSpPr>
        <p:spPr>
          <a:xfrm>
            <a:off x="523875" y="1600000"/>
            <a:ext cx="8096250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Accessing the campus website from PC3 or PC5:  </a:t>
            </a:r>
            <a:r>
              <a:rPr lang="en-US" sz="1600" b="1" i="0" dirty="0">
                <a:solidFill>
                  <a:srgbClr val="1F5FA8"/>
                </a:solidFill>
                <a:latin typeface="Arial"/>
                <a:ea typeface="Arial"/>
                <a:cs typeface="Arial"/>
              </a:rPr>
              <a:t>http://www.collegenetwork.com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1F47A-2B1A-4750-8E3C-EC82A2551A9A}"/>
              </a:ext>
            </a:extLst>
          </p:cNvPr>
          <p:cNvSpPr>
            <a:spLocks noGrp="1"/>
          </p:cNvSpPr>
          <p:nvPr/>
        </p:nvSpPr>
        <p:spPr>
          <a:xfrm>
            <a:off x="523875" y="2100000"/>
            <a:ext cx="5100000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3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1.  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PC3 (or PC5) → Desktop → Web Browser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3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2.  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Visit </a:t>
            </a:r>
            <a:r>
              <a:rPr lang="en-US" sz="1300" b="1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http://www.collegenetwork.com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3.  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the loaded webpage; explain DNS resolution, routing and (for PC3) the student ACL’s HTTP permit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31393-1A58-4193-B896-64977C05E623}"/>
              </a:ext>
            </a:extLst>
          </p:cNvPr>
          <p:cNvSpPr>
            <a:spLocks noGrp="1"/>
          </p:cNvSpPr>
          <p:nvPr/>
        </p:nvSpPr>
        <p:spPr>
          <a:xfrm>
            <a:off x="523875" y="5300000"/>
            <a:ext cx="8096250" cy="700000"/>
          </a:xfrm>
          <a:prstGeom prst="rect">
            <a:avLst/>
          </a:prstGeom>
          <a:solidFill>
            <a:srgbClr val="E8ECF3"/>
          </a:solidFill>
          <a:ln w="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Success criterion: </a:t>
            </a:r>
            <a:r>
              <a:rPr lang="en-US" sz="16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domain resolves to </a:t>
            </a:r>
            <a:r>
              <a:rPr lang="en-US" sz="1600" b="1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192.168.40.3</a:t>
            </a:r>
            <a:r>
              <a:rPr lang="en-US" sz="16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and the HTTP website loads from PC3 (student VLAN) and PC5 (faculty VLAN).</a:t>
            </a:r>
          </a:p>
        </p:txBody>
      </p:sp>
      <p:sp>
        <p:nvSpPr>
          <p:cNvPr id="259" name="Demo step 1"/>
          <p:cNvSpPr/>
          <p:nvPr/>
        </p:nvSpPr>
        <p:spPr>
          <a:xfrm>
            <a:off x="5950000" y="2150000"/>
            <a:ext cx="2670000" cy="520000"/>
          </a:xfrm>
          <a:prstGeom prst="roundRect">
            <a:avLst>
              <a:gd name="adj" fmla="val 15000"/>
            </a:avLst>
          </a:prstGeom>
          <a:solidFill>
            <a:srgbClr val="1F5FA8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PC3 or PC5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VLAN 10 / VLAN 20 · opens the URL</a:t>
            </a:r>
          </a:p>
        </p:txBody>
      </p:sp>
      <p:sp>
        <p:nvSpPr>
          <p:cNvPr id="260" name="Demo arrow 1"/>
          <p:cNvSpPr/>
          <p:nvPr/>
        </p:nvSpPr>
        <p:spPr>
          <a:xfrm>
            <a:off x="7185000" y="2675000"/>
            <a:ext cx="150000" cy="170000"/>
          </a:xfrm>
          <a:prstGeom prst="downArrow">
            <a:avLst/>
          </a:prstGeom>
          <a:solidFill>
            <a:srgbClr val="8A94A6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61" name="Demo step 2"/>
          <p:cNvSpPr/>
          <p:nvPr/>
        </p:nvSpPr>
        <p:spPr>
          <a:xfrm>
            <a:off x="5950000" y="2850000"/>
            <a:ext cx="2670000" cy="520000"/>
          </a:xfrm>
          <a:prstGeom prst="roundRect">
            <a:avLst>
              <a:gd name="adj" fmla="val 15000"/>
            </a:avLst>
          </a:prstGeom>
          <a:solidFill>
            <a:srgbClr val="B8590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Server0 · DNS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192.168.40.2</a:t>
            </a:r>
          </a:p>
        </p:txBody>
      </p:sp>
      <p:sp>
        <p:nvSpPr>
          <p:cNvPr id="262" name="Demo arrow 2"/>
          <p:cNvSpPr/>
          <p:nvPr/>
        </p:nvSpPr>
        <p:spPr>
          <a:xfrm>
            <a:off x="7185000" y="3375000"/>
            <a:ext cx="150000" cy="170000"/>
          </a:xfrm>
          <a:prstGeom prst="downArrow">
            <a:avLst/>
          </a:prstGeom>
          <a:solidFill>
            <a:srgbClr val="8A94A6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63" name="Demo step 3"/>
          <p:cNvSpPr/>
          <p:nvPr/>
        </p:nvSpPr>
        <p:spPr>
          <a:xfrm>
            <a:off x="5950000" y="3550000"/>
            <a:ext cx="2670000" cy="520000"/>
          </a:xfrm>
          <a:prstGeom prst="roundRect">
            <a:avLst>
              <a:gd name="adj" fmla="val 15000"/>
            </a:avLst>
          </a:prstGeom>
          <a:solidFill>
            <a:srgbClr val="20375C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R1 + student ACL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routes; HTTP permitted</a:t>
            </a:r>
          </a:p>
        </p:txBody>
      </p:sp>
      <p:sp>
        <p:nvSpPr>
          <p:cNvPr id="264" name="Demo arrow 3"/>
          <p:cNvSpPr/>
          <p:nvPr/>
        </p:nvSpPr>
        <p:spPr>
          <a:xfrm>
            <a:off x="7185000" y="4075000"/>
            <a:ext cx="150000" cy="170000"/>
          </a:xfrm>
          <a:prstGeom prst="downArrow">
            <a:avLst/>
          </a:prstGeom>
          <a:solidFill>
            <a:srgbClr val="8A94A6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200"/>
          </a:p>
        </p:txBody>
      </p:sp>
      <p:sp>
        <p:nvSpPr>
          <p:cNvPr id="265" name="Demo step 4"/>
          <p:cNvSpPr/>
          <p:nvPr/>
        </p:nvSpPr>
        <p:spPr>
          <a:xfrm>
            <a:off x="5950000" y="4250000"/>
            <a:ext cx="2670000" cy="520000"/>
          </a:xfrm>
          <a:prstGeom prst="roundRect">
            <a:avLst>
              <a:gd name="adj" fmla="val 15000"/>
            </a:avLst>
          </a:prstGeom>
          <a:solidFill>
            <a:srgbClr val="B8590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Server1 · HTTP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192.168.40.3</a:t>
            </a:r>
          </a:p>
        </p:txBody>
      </p:sp>
      <p:sp>
        <p:nvSpPr>
          <p:cNvPr id="270" name="Simulation Mode card"/>
          <p:cNvSpPr/>
          <p:nvPr/>
        </p:nvSpPr>
        <p:spPr>
          <a:xfrm>
            <a:off x="523875" y="3230000"/>
            <a:ext cx="5100000" cy="1600000"/>
          </a:xfrm>
          <a:prstGeom prst="roundRect">
            <a:avLst>
              <a:gd name="adj" fmla="val 6000"/>
            </a:avLst>
          </a:prstGeom>
          <a:solidFill>
            <a:srgbClr val="E3EEF9"/>
          </a:solidFill>
          <a:ln>
            <a:noFill/>
          </a:ln>
        </p:spPr>
        <p:txBody>
          <a:bodyPr wrap="square" lIns="109728" tIns="54864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300" b="1" i="0" dirty="0">
                <a:solidFill>
                  <a:srgbClr val="1F5FA8"/>
                </a:solidFill>
                <a:latin typeface="Arial"/>
                <a:ea typeface="Arial"/>
                <a:cs typeface="Arial"/>
              </a:rPr>
              <a:t>Short Simulation Mode demo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2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1.  </a:t>
            </a:r>
            <a:r>
              <a:rPr lang="en-US" sz="12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Enable the DHCP, DNS and HTTP event filters.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2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2.  </a:t>
            </a:r>
            <a:r>
              <a:rPr lang="en-US" sz="12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Request http://www.collegenetwork.com from PC3 or PC5.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2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3.  </a:t>
            </a:r>
            <a:r>
              <a:rPr lang="en-US" sz="12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Capture/Forward to step through the packet events.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2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4.  </a:t>
            </a:r>
            <a:r>
              <a:rPr lang="en-US" sz="12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DNS resolves the name; HTTP carries the request and response.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0" i="1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DHCP events appear only when a DHCP request is generated. Simulation Mode visualizes network events; it does not configure the network.</a:t>
            </a:r>
          </a:p>
        </p:txBody>
      </p:sp>
      <p:sp>
        <p:nvSpPr>
          <p:cNvPr id="266" name="Secondary demo note"/>
          <p:cNvSpPr txBox="1"/>
          <p:nvPr/>
        </p:nvSpPr>
        <p:spPr>
          <a:xfrm>
            <a:off x="615315" y="4900000"/>
            <a:ext cx="800481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 i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Secondary demo (time permitting): </a:t>
            </a:r>
            <a:r>
              <a:rPr lang="en-US" sz="1300" b="0" i="1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SSH v2 login from PC0 to R1 – credentials not shown.</a:t>
            </a:r>
          </a:p>
        </p:txBody>
      </p:sp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3241-AA33-4209-9B79-B06A3DA63F8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1180000"/>
            <a:ext cx="2600000" cy="2950000"/>
          </a:xfrm>
          <a:prstGeom prst="rect">
            <a:avLst/>
          </a:prstGeom>
          <a:solidFill>
            <a:srgbClr val="E3EEF9"/>
          </a:solidFill>
          <a:ln w="0">
            <a:noFill/>
            <a:prstDash val="solid"/>
          </a:ln>
        </p:spPr>
        <p:txBody>
          <a:bodyPr wrap="square" lIns="109728" tIns="9144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500" b="1" i="0" dirty="0">
                <a:solidFill>
                  <a:srgbClr val="1F5FA8"/>
                </a:solidFill>
                <a:latin typeface="Arial"/>
                <a:ea typeface="Arial"/>
                <a:cs typeface="Arial"/>
              </a:rPr>
              <a:t>Outcome and Application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300" b="1" i="0" dirty="0">
                <a:solidFill>
                  <a:srgbClr val="1F5FA8"/>
                </a:solidFill>
                <a:latin typeface="Arial"/>
                <a:ea typeface="Arial"/>
                <a:cs typeface="Arial"/>
              </a:rPr>
              <a:t>Outcome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Segmented campus network expanded to three switches and four extra PCs, reusing the student and faculty VLANs; inter-VLAN routing; DHCP, DNS and HTTP services; student ACL and switch/router security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300" b="1" i="0" dirty="0">
                <a:solidFill>
                  <a:srgbClr val="1F5FA8"/>
                </a:solidFill>
                <a:latin typeface="Arial"/>
                <a:ea typeface="Arial"/>
                <a:cs typeface="Arial"/>
              </a:rPr>
              <a:t>Application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simulated college or departmental 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99F11-8A11-408E-A37B-1864BB168263}"/>
              </a:ext>
            </a:extLst>
          </p:cNvPr>
          <p:cNvSpPr>
            <a:spLocks noGrp="1"/>
          </p:cNvSpPr>
          <p:nvPr/>
        </p:nvSpPr>
        <p:spPr>
          <a:xfrm>
            <a:off x="523875" y="4400000"/>
            <a:ext cx="8096250" cy="7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Team contributions:</a:t>
            </a:r>
          </a:p>
          <a:p>
            <a:r>
              <a:rPr lang="en-IN" sz="1400" dirty="0"/>
              <a:t>Raghav Singh – Network topology, VLANs, and inter-VLAN routing.</a:t>
            </a:r>
          </a:p>
          <a:p>
            <a:r>
              <a:rPr lang="en-IN" sz="1400" dirty="0"/>
              <a:t>Mitali Agrawal – DHCP, DNS, and website configuration.</a:t>
            </a:r>
          </a:p>
          <a:p>
            <a:r>
              <a:rPr lang="en-IN" sz="1400" dirty="0"/>
              <a:t>Hrushikesh Kapre – Network security, ACLs, SSH, and port security.</a:t>
            </a:r>
          </a:p>
          <a:p>
            <a:r>
              <a:rPr lang="en-IN" sz="1400" dirty="0"/>
              <a:t>Aarushi Tyagi – Connectivity testing, documentation, report, and PPT preparation.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lang="en-US" sz="1400" b="0" i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0ECB7-8E0C-4D51-855A-3F114DB4BE40}"/>
              </a:ext>
            </a:extLst>
          </p:cNvPr>
          <p:cNvSpPr>
            <a:spLocks noGrp="1"/>
          </p:cNvSpPr>
          <p:nvPr/>
        </p:nvSpPr>
        <p:spPr>
          <a:xfrm>
            <a:off x="476250" y="5753200"/>
            <a:ext cx="8096250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AI use: </a:t>
            </a:r>
            <a:r>
              <a:rPr lang="en-US" sz="10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ChatGPT assisted with explanations and documentation; Claude assisted in preparing these slides. Project facts should be checked against the actual Packet Tracer configuration and test evidence.</a:t>
            </a:r>
          </a:p>
        </p:txBody>
      </p:sp>
      <p:sp>
        <p:nvSpPr>
          <p:cNvPr id="267" name="Limitations card"/>
          <p:cNvSpPr/>
          <p:nvPr/>
        </p:nvSpPr>
        <p:spPr>
          <a:xfrm>
            <a:off x="3272000" y="1180000"/>
            <a:ext cx="2600000" cy="2950000"/>
          </a:xfrm>
          <a:prstGeom prst="rect">
            <a:avLst/>
          </a:prstGeom>
          <a:solidFill>
            <a:srgbClr val="FBEBDD"/>
          </a:solidFill>
          <a:ln>
            <a:noFill/>
          </a:ln>
        </p:spPr>
        <p:txBody>
          <a:bodyPr wrap="square" lIns="109728" tIns="9144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500" b="1" i="0" dirty="0">
                <a:solidFill>
                  <a:srgbClr val="B8590F"/>
                </a:solidFill>
                <a:latin typeface="Arial"/>
                <a:ea typeface="Arial"/>
                <a:cs typeface="Arial"/>
              </a:rPr>
              <a:t>Limitations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 external Internet/WAN connectivity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ACL applies to students only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HTTP tested; HTTPS service not confirmed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Legacy </a:t>
            </a:r>
            <a:r>
              <a:rPr lang="en-US" sz="1300" b="1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192.168.20.1</a:t>
            </a: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noted on physical R1 GigabitEthernet0/1 – review if obsolete</a:t>
            </a:r>
          </a:p>
        </p:txBody>
      </p:sp>
      <p:sp>
        <p:nvSpPr>
          <p:cNvPr id="268" name="Future scope card"/>
          <p:cNvSpPr/>
          <p:nvPr/>
        </p:nvSpPr>
        <p:spPr>
          <a:xfrm>
            <a:off x="6020125" y="1180000"/>
            <a:ext cx="2600000" cy="2950000"/>
          </a:xfrm>
          <a:prstGeom prst="rect">
            <a:avLst/>
          </a:prstGeom>
          <a:solidFill>
            <a:srgbClr val="E4F2EA"/>
          </a:solidFill>
          <a:ln>
            <a:noFill/>
          </a:ln>
        </p:spPr>
        <p:txBody>
          <a:bodyPr wrap="square" lIns="109728" tIns="9144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500" b="1" i="0" dirty="0">
                <a:solidFill>
                  <a:srgbClr val="2E7D4F"/>
                </a:solidFill>
                <a:latin typeface="Arial"/>
                <a:ea typeface="Arial"/>
                <a:cs typeface="Arial"/>
              </a:rPr>
              <a:t>Future scope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Configure and test HTTPS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Add a management VLAN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Add logging and monitoring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Improve credential management and access policies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Add redundancy or WAN connectivity if required</a:t>
            </a: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 noGrp="1"/>
          </p:cNvSpPr>
          <p:nvPr/>
        </p:nvSpPr>
        <p:spPr>
          <a:xfrm>
            <a:off x="523875" y="1200000"/>
            <a:ext cx="8096250" cy="4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lang="en-US" sz="125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[1]  </a:t>
            </a:r>
            <a:r>
              <a:rPr lang="en-US" sz="125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IEEE Standard for Local and Metropolitan Area Networks—Bridges and Bridged Networks, IEEE Std 802.1Q-2022, Dec. 2022. [Online]. Available: https://standards.ieee.org/ieee/802.1q/10323/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lang="en-US" sz="125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[2]  </a:t>
            </a:r>
            <a:r>
              <a:rPr lang="en-US" sz="125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Cisco Systems, “VLAN Configuration Guide, Cisco IOS Release 15.2(2)E (Catalyst 2960-X Switch),” in Catalyst 2960-X Series configuration guides. [Online]. Available: https://www.cisco.com/c/en/us/support/switches/catalyst-2960-x-series-switches/products-installation-and-configuration-guides-list.html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lang="en-US" sz="125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[3]  </a:t>
            </a:r>
            <a:r>
              <a:rPr lang="en-US" sz="125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Cisco Systems, “Security Configuration Guide: Access Control Lists, Cisco IOS Release 15SY.” [Online]. Available: https://www.cisco.com/en/US/docs/ios-xml/ios/sec_data_acl/configuration/15-sy/sec-data-acl-15-sy-book.html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lang="en-US" sz="125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[4]  </a:t>
            </a:r>
            <a:r>
              <a:rPr lang="en-US" sz="125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Cisco Systems, “Configure SSH on Routers and Switches,” Doc. ID 4145. [Online]. Available: https://www.cisco.com/c/en/us/support/docs/security-vpn/secure-shell-ssh/4145-ssh.html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lang="en-US" sz="125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[5]  </a:t>
            </a:r>
            <a:r>
              <a:rPr lang="en-US" sz="125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Cisco Systems, “Configuring Port-Based Traffic Control,” Consolidated Platform Configuration Guide, Cisco IOS Release 15.2(6)E (Catalyst 2960-X Switch). [Online]. Available: https://www.cisco.com/c/en/us/td/docs/switches/lan/catalyst2960x/software/15_2_6_e/configuration_guide/b_1526e_consolidated_2960x_cg/b_1526e_consolidated_2960x_cg_chapter_0111001.html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lang="en-US" sz="1250" b="1" i="0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[6]  </a:t>
            </a:r>
            <a:r>
              <a:rPr lang="en-US" sz="1250" b="0" i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Cisco Systems, “Configuring the Cisco IOS DHCP Relay Agent.” [Online]. Available: https://cisco.com/en/US/docs/ios-xml/ios/ipaddr_dhcp/configuration/15-sy/dhcp-relay-agent.html</a:t>
            </a: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1615</Words>
  <Application>Microsoft Office PowerPoint</Application>
  <PresentationFormat>On-screen Show (4:3)</PresentationFormat>
  <Paragraphs>196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Aarushi</dc:creator>
  <cp:lastModifiedBy>Mitali Agrawal</cp:lastModifiedBy>
  <cp:revision>3</cp:revision>
  <dcterms:modified xsi:type="dcterms:W3CDTF">2026-10-25T08:48:24Z</dcterms:modified>
</cp:coreProperties>
</file>